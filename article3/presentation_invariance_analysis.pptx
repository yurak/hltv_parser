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Аналіз інваріантності ознак</a:t>
            </a:r>
            <a:br/>
            <a:r>
              <a:t>продуктивності гравців CS2/CSGO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Визначення контекстно-незалежних метрик скілу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Актуальність проблеми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Кіберспорт — індустрія з оборотом понад $1.8 млрд</a:t>
            </a:r>
          </a:p>
          <a:p>
            <a:pPr>
              <a:spcAft>
                <a:spcPts val="1200"/>
              </a:spcAft>
              <a:defRPr sz="1800"/>
            </a:pPr>
            <a:r>
              <a:t>• Counter-Strike — одна з найпопулярніших кіберспортивних дисциплін</a:t>
            </a:r>
          </a:p>
          <a:p>
            <a:pPr>
              <a:spcAft>
                <a:spcPts val="1200"/>
              </a:spcAft>
              <a:defRPr sz="1800"/>
            </a:pPr>
            <a:r>
              <a:t>• Об'єктивна оцінка гравців критична для скаутингу та формування складів</a:t>
            </a:r>
          </a:p>
          <a:p>
            <a:pPr>
              <a:spcAft>
                <a:spcPts val="1200"/>
              </a:spcAft>
              <a:defRPr sz="1800"/>
            </a:pPr>
            <a:r>
              <a:t>• Традиційні метрики (K/D, ADR) залежать від контексту гри</a:t>
            </a:r>
          </a:p>
          <a:p>
            <a:pPr>
              <a:spcAft>
                <a:spcPts val="1200"/>
              </a:spcAft>
              <a:defRPr sz="1800"/>
            </a:pPr>
            <a:r>
              <a:t>• Проблема: як відокремити справжній скіл від ситуативних факторів?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Дослідницьке питання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Які метрики продуктивності є ІНВАРІАНТНИМИ?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Три виміри аналізу:</a:t>
            </a:r>
          </a:p>
          <a:p>
            <a:pPr>
              <a:spcAft>
                <a:spcPts val="1200"/>
              </a:spcAft>
              <a:defRPr sz="1800"/>
            </a:pPr>
            <a:r>
              <a:t>•    1. Карти (8 різних карт)</a:t>
            </a:r>
          </a:p>
          <a:p>
            <a:pPr>
              <a:spcAft>
                <a:spcPts val="1200"/>
              </a:spcAft>
              <a:defRPr sz="1800"/>
            </a:pPr>
            <a:r>
              <a:t>•    2. Версії гри (CS2 vs CSGO)</a:t>
            </a:r>
          </a:p>
          <a:p>
            <a:pPr>
              <a:spcAft>
                <a:spcPts val="1200"/>
              </a:spcAft>
              <a:defRPr sz="1800"/>
            </a:pPr>
            <a:r>
              <a:t>•    3. Сторони (Терористи vs Контр-терористи)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Інваріантні ознаки = справжній скіл гравця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Набір даних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Параметр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Значення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Загальна кількість записів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3 486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Записів CS2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1 820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Записів CSGO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1 666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Кількість карт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Числових ознак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104 → 36 (після відбору)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Джерело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HLTV.org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Методологія: чому розміри ефектів?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Проблема p-values при великих вибірках (n &gt; 3000):</a:t>
            </a:r>
          </a:p>
          <a:p>
            <a:pPr>
              <a:spcAft>
                <a:spcPts val="1200"/>
              </a:spcAft>
              <a:defRPr sz="1800"/>
            </a:pPr>
            <a:r>
              <a:t>•    • Навіть мізерні відмінності 'статистично значущі'</a:t>
            </a:r>
          </a:p>
          <a:p>
            <a:pPr>
              <a:spcAft>
                <a:spcPts val="1200"/>
              </a:spcAft>
              <a:defRPr sz="1800"/>
            </a:pPr>
            <a:r>
              <a:t>•    • Не показують практичну важливість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Рішення — розміри ефектів:</a:t>
            </a:r>
          </a:p>
          <a:p>
            <a:pPr>
              <a:spcAft>
                <a:spcPts val="1200"/>
              </a:spcAft>
              <a:defRPr sz="1800"/>
            </a:pPr>
            <a:r>
              <a:t>•    • η² (eta-squared) — частка поясненої дисперсії</a:t>
            </a:r>
          </a:p>
          <a:p>
            <a:pPr>
              <a:spcAft>
                <a:spcPts val="1200"/>
              </a:spcAft>
              <a:defRPr sz="1800"/>
            </a:pPr>
            <a:r>
              <a:t>•    • Cohen's d — стандартизована різниця середніх</a:t>
            </a:r>
          </a:p>
          <a:p>
            <a:pPr>
              <a:spcAft>
                <a:spcPts val="1200"/>
              </a:spcAft>
              <a:defRPr sz="1800"/>
            </a:pPr>
            <a:r>
              <a:t>•    • Масштабно-незалежні міри практичної значущості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Методологія: статистичні тести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Аналіз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Тест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Розмір ефекту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Поріг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Карти (8 груп)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ANOVA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η² (eta-squared)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0.06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Версії (2 групи)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Mann-Whitney 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Cohen's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0.5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Сторони (парні)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Парний t-тест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Cohen's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 0.5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Результати: інваріантність по картах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B050"/>
                </a:solidFill>
              </a:defRPr>
            </a:pPr>
            <a:r>
              <a:t>75%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27 з 36 ознак інваріантні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050"/>
                </a:solidFill>
              </a:defRPr>
            </a:pPr>
            <a:r>
              <a:t>Найстабільніші:</a:t>
            </a:r>
          </a:p>
          <a:p>
            <a:pPr>
              <a:defRPr sz="1200"/>
            </a:pPr>
            <a:r>
              <a:t>  • opening_deaths_per_round (η² = 0.003)</a:t>
            </a:r>
          </a:p>
          <a:p>
            <a:pPr>
              <a:defRPr sz="1200"/>
            </a:pPr>
            <a:r>
              <a:t>  • opening_attempts (η² = 0.005)</a:t>
            </a:r>
          </a:p>
          <a:p>
            <a:pPr>
              <a:defRPr sz="1200"/>
            </a:pPr>
            <a:r>
              <a:t>  • opening_kills_per_round (η² = 0.008)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Найваріантніші:</a:t>
            </a:r>
          </a:p>
          <a:p>
            <a:pPr>
              <a:defRPr sz="1200"/>
            </a:pPr>
            <a:r>
              <a:t>  • utility_damage_per_round (η² = 0.156)</a:t>
            </a:r>
          </a:p>
          <a:p>
            <a:pPr>
              <a:defRPr sz="1200"/>
            </a:pPr>
            <a:r>
              <a:t>  • flashes_thrown_per_round (η² = 0.142)</a:t>
            </a:r>
          </a:p>
          <a:p>
            <a:pPr>
              <a:defRPr sz="1200"/>
            </a:pPr>
            <a:r>
              <a:t>  • utility (η² = 0.128)</a:t>
            </a:r>
          </a:p>
        </p:txBody>
      </p:sp>
      <p:pic>
        <p:nvPicPr>
          <p:cNvPr id="7" name="Picture 6" descr="normalized_m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297680" cy="268491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Результати: інваріантність по версіях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B050"/>
                </a:solidFill>
              </a:defRPr>
            </a:pPr>
            <a:r>
              <a:t>92%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33 з 36 ознак інваріантні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050"/>
                </a:solidFill>
              </a:defRPr>
            </a:pPr>
            <a:r>
              <a:t>Найстабільніші:</a:t>
            </a:r>
          </a:p>
          <a:p>
            <a:pPr>
              <a:defRPr sz="1200"/>
            </a:pPr>
            <a:r>
              <a:t>  • opening_deaths_per_round (d = 0.02)</a:t>
            </a:r>
          </a:p>
          <a:p>
            <a:pPr>
              <a:defRPr sz="1200"/>
            </a:pPr>
            <a:r>
              <a:t>  • utility (d = 0.04)</a:t>
            </a:r>
          </a:p>
          <a:p>
            <a:pPr>
              <a:defRPr sz="1200"/>
            </a:pPr>
            <a:r>
              <a:t>  • clutch_points_per_round (d = 0.06)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Найваріантніші:</a:t>
            </a:r>
          </a:p>
          <a:p>
            <a:pPr>
              <a:defRPr sz="1200"/>
            </a:pPr>
            <a:r>
              <a:t>  • assisted_kills_percentage (d = 0.89)</a:t>
            </a:r>
          </a:p>
          <a:p>
            <a:pPr>
              <a:defRPr sz="1200"/>
            </a:pPr>
            <a:r>
              <a:t>  • assists_per_round (d = 0.78)</a:t>
            </a:r>
          </a:p>
          <a:p>
            <a:pPr>
              <a:defRPr sz="1200"/>
            </a:pPr>
            <a:r>
              <a:t>  • support_rounds (d = 0.71)</a:t>
            </a:r>
          </a:p>
        </p:txBody>
      </p:sp>
      <p:pic>
        <p:nvPicPr>
          <p:cNvPr id="7" name="Picture 6" descr="normalized_vers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297680" cy="32178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Результати: інваріантність по сторонах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0B050"/>
                </a:solidFill>
              </a:defRPr>
            </a:pPr>
            <a:r>
              <a:t>48%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14 з 29 ознак інваріантні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6032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B050"/>
                </a:solidFill>
              </a:defRPr>
            </a:pPr>
            <a:r>
              <a:t>Найстабільніші:</a:t>
            </a:r>
          </a:p>
          <a:p>
            <a:pPr>
              <a:defRPr sz="1200"/>
            </a:pPr>
            <a:r>
              <a:t>  • opening_attempts (d = 0.03)</a:t>
            </a:r>
          </a:p>
          <a:p>
            <a:pPr>
              <a:defRPr sz="1200"/>
            </a:pPr>
            <a:r>
              <a:t>  • entrying (d = 0.05)</a:t>
            </a:r>
          </a:p>
          <a:p>
            <a:pPr>
              <a:defRPr sz="1200"/>
            </a:pPr>
            <a:r>
              <a:t>  • pistol_round_rating (d = 0.08)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3931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0000"/>
                </a:solidFill>
              </a:defRPr>
            </a:pPr>
            <a:r>
              <a:t>Найваріантніші:</a:t>
            </a:r>
          </a:p>
          <a:p>
            <a:pPr>
              <a:defRPr sz="1200"/>
            </a:pPr>
            <a:r>
              <a:t>  • saves_per_round_loss (d = 1.24)</a:t>
            </a:r>
          </a:p>
          <a:p>
            <a:pPr>
              <a:defRPr sz="1200"/>
            </a:pPr>
            <a:r>
              <a:t>  • utility_damage_per_round (d = 0.98)</a:t>
            </a:r>
          </a:p>
          <a:p>
            <a:pPr>
              <a:defRPr sz="1200"/>
            </a:pPr>
            <a:r>
              <a:t>  • flashes_thrown_per_round (d = 0.94)</a:t>
            </a:r>
          </a:p>
        </p:txBody>
      </p:sp>
      <p:pic>
        <p:nvPicPr>
          <p:cNvPr id="7" name="Picture 6" descr="normalized_sid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4297680" cy="2136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11 універсально інваріантних ознак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i="1">
                <a:solidFill>
                  <a:srgbClr val="0070C0"/>
                </a:solidFill>
              </a:defRPr>
            </a:pPr>
            <a:r>
              <a:t>Стабільні по картах, версіях ТА сторонах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050"/>
                </a:solidFill>
              </a:defRPr>
            </a:pPr>
            <a:r>
              <a:t>✓ rating_3.0</a:t>
            </a:r>
          </a:p>
          <a:p>
            <a:pPr>
              <a:spcAft>
                <a:spcPts val="800"/>
              </a:spcAft>
              <a:defRPr sz="1200"/>
            </a:pPr>
            <a:r>
              <a:t>   Загальний рейтинг гравця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firepower</a:t>
            </a:r>
          </a:p>
          <a:p>
            <a:pPr>
              <a:spcAft>
                <a:spcPts val="800"/>
              </a:spcAft>
              <a:defRPr sz="1200"/>
            </a:pPr>
            <a:r>
              <a:t>   Здатність до фрагів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opening</a:t>
            </a:r>
          </a:p>
          <a:p>
            <a:pPr>
              <a:spcAft>
                <a:spcPts val="800"/>
              </a:spcAft>
              <a:defRPr sz="1200"/>
            </a:pPr>
            <a:r>
              <a:t>   Участь у відкриваючих дуелях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opening_attempts</a:t>
            </a:r>
          </a:p>
          <a:p>
            <a:pPr>
              <a:spcAft>
                <a:spcPts val="800"/>
              </a:spcAft>
              <a:defRPr sz="1200"/>
            </a:pPr>
            <a:r>
              <a:t>   Частота перших боїв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pistol_round_rating</a:t>
            </a:r>
          </a:p>
          <a:p>
            <a:pPr>
              <a:spcAft>
                <a:spcPts val="800"/>
              </a:spcAft>
              <a:defRPr sz="1200"/>
            </a:pPr>
            <a:r>
              <a:t>   Продуктивність у пістолетних раундах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clutching</a:t>
            </a:r>
          </a:p>
          <a:p>
            <a:pPr>
              <a:spcAft>
                <a:spcPts val="800"/>
              </a:spcAft>
              <a:defRPr sz="1200"/>
            </a:pPr>
            <a:r>
              <a:t>   Гра в клатч-ситуаціях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55448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B050"/>
                </a:solidFill>
              </a:defRPr>
            </a:pPr>
            <a:r>
              <a:t>✓ clutch_points_per_round</a:t>
            </a:r>
          </a:p>
          <a:p>
            <a:pPr>
              <a:spcAft>
                <a:spcPts val="800"/>
              </a:spcAft>
              <a:defRPr sz="1200"/>
            </a:pPr>
            <a:r>
              <a:t>   Внесок у клатчі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entrying</a:t>
            </a:r>
          </a:p>
          <a:p>
            <a:pPr>
              <a:spcAft>
                <a:spcPts val="800"/>
              </a:spcAft>
              <a:defRPr sz="1200"/>
            </a:pPr>
            <a:r>
              <a:t>   Схильність до entry-фрагів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sniping</a:t>
            </a:r>
          </a:p>
          <a:p>
            <a:pPr>
              <a:spcAft>
                <a:spcPts val="800"/>
              </a:spcAft>
              <a:defRPr sz="1200"/>
            </a:pPr>
            <a:r>
              <a:t>   Стиль гри з AWP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sniper_multi_kill_rounds</a:t>
            </a:r>
          </a:p>
          <a:p>
            <a:pPr>
              <a:spcAft>
                <a:spcPts val="800"/>
              </a:spcAft>
              <a:defRPr sz="1200"/>
            </a:pPr>
            <a:r>
              <a:t>   Раунди з мультікілами AWP</a:t>
            </a:r>
          </a:p>
          <a:p>
            <a:pPr>
              <a:defRPr sz="1600" b="1">
                <a:solidFill>
                  <a:srgbClr val="00B050"/>
                </a:solidFill>
              </a:defRPr>
            </a:pPr>
            <a:r>
              <a:t>✓ sniper_opening_kills_per_round</a:t>
            </a:r>
          </a:p>
          <a:p>
            <a:pPr>
              <a:spcAft>
                <a:spcPts val="800"/>
              </a:spcAft>
              <a:defRPr sz="1200"/>
            </a:pPr>
            <a:r>
              <a:t>   Опенінг кіли з AWP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PCA візуалізація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Проекція 36-вимірного простору ознак у 2D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Спостереження:</a:t>
            </a:r>
          </a:p>
          <a:p>
            <a:pPr>
              <a:spcAft>
                <a:spcPts val="1200"/>
              </a:spcAft>
              <a:defRPr sz="1800"/>
            </a:pPr>
            <a:r>
              <a:t>•    • Карти — значне перекриття, немає кластерів</a:t>
            </a:r>
          </a:p>
          <a:p>
            <a:pPr>
              <a:spcAft>
                <a:spcPts val="1200"/>
              </a:spcAft>
              <a:defRPr sz="1800"/>
            </a:pPr>
            <a:r>
              <a:t>•    • Версії — CS2 та CSGO майже повністю перекриваються</a:t>
            </a:r>
          </a:p>
          <a:p>
            <a:pPr>
              <a:spcAft>
                <a:spcPts val="1200"/>
              </a:spcAft>
              <a:defRPr sz="1800"/>
            </a:pPr>
            <a:r>
              <a:t>•    • Сторони — помітне розділення по PC2</a:t>
            </a:r>
          </a:p>
        </p:txBody>
      </p:sp>
      <p:pic>
        <p:nvPicPr>
          <p:cNvPr id="5" name="Picture 4" descr="pca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4114800" cy="135524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Практичні імплікації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Для скаутингу талантів:</a:t>
            </a:r>
          </a:p>
          <a:p>
            <a:pPr>
              <a:spcAft>
                <a:spcPts val="1200"/>
              </a:spcAft>
              <a:defRPr sz="1800"/>
            </a:pPr>
            <a:r>
              <a:t>•    • Фокус на 11 універсальних ознаках</a:t>
            </a:r>
          </a:p>
          <a:p>
            <a:pPr>
              <a:spcAft>
                <a:spcPts val="1200"/>
              </a:spcAft>
              <a:defRPr sz="1800"/>
            </a:pPr>
            <a:r>
              <a:t>•    • Opening stats як індикатор механічного скілу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Для ML-моделей:</a:t>
            </a:r>
          </a:p>
          <a:p>
            <a:pPr>
              <a:spcAft>
                <a:spcPts val="1200"/>
              </a:spcAft>
              <a:defRPr sz="1800"/>
            </a:pPr>
            <a:r>
              <a:t>•    • Інваріантні ознаки як предиктори</a:t>
            </a:r>
          </a:p>
          <a:p>
            <a:pPr>
              <a:spcAft>
                <a:spcPts val="1200"/>
              </a:spcAft>
              <a:defRPr sz="1800"/>
            </a:pPr>
            <a:r>
              <a:t>•    • Уникати utility-метрик для крос-контекстних моделей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Для аналітики:</a:t>
            </a:r>
          </a:p>
          <a:p>
            <a:pPr>
              <a:spcAft>
                <a:spcPts val="1200"/>
              </a:spcAft>
              <a:defRPr sz="1800"/>
            </a:pPr>
            <a:r>
              <a:t>•    • Нормалізувати по стороні при порівнянні</a:t>
            </a:r>
          </a:p>
          <a:p>
            <a:pPr>
              <a:spcAft>
                <a:spcPts val="1200"/>
              </a:spcAft>
              <a:defRPr sz="1800"/>
            </a:pPr>
            <a:r>
              <a:t>•    • Враховувати map pool команди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Обмеження дослідження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Вибірка: тільки топ-гравці за рейтингом HLTV</a:t>
            </a:r>
          </a:p>
          <a:p>
            <a:pPr>
              <a:spcAft>
                <a:spcPts val="1200"/>
              </a:spcAft>
              <a:defRPr sz="1800"/>
            </a:pPr>
            <a:r>
              <a:t>•    → Результати можуть не узагальнюватись на аматорський рівень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Агрегація: статистика по матчах</a:t>
            </a:r>
          </a:p>
          <a:p>
            <a:pPr>
              <a:spcAft>
                <a:spcPts val="1200"/>
              </a:spcAft>
              <a:defRPr sz="1800"/>
            </a:pPr>
            <a:r>
              <a:t>•    → Втрачається раунд-за-раундом динаміка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Cross-sectional дизайн:</a:t>
            </a:r>
          </a:p>
          <a:p>
            <a:pPr>
              <a:spcAft>
                <a:spcPts val="1200"/>
              </a:spcAft>
              <a:defRPr sz="1800"/>
            </a:pPr>
            <a:r>
              <a:t>•    → Не аналізуємо темпоральну стабільність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Не враховано ігрові ролі:</a:t>
            </a:r>
          </a:p>
          <a:p>
            <a:pPr>
              <a:spcAft>
                <a:spcPts val="1200"/>
              </a:spcAft>
              <a:defRPr sz="1800"/>
            </a:pPr>
            <a:r>
              <a:t>•    → AWPer vs Rifler vs IGL можуть мати різні патерни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Напрями подальших досліджень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Лонгітюдний аналіз</a:t>
            </a:r>
          </a:p>
          <a:p>
            <a:pPr>
              <a:spcAft>
                <a:spcPts val="1200"/>
              </a:spcAft>
              <a:defRPr sz="1800"/>
            </a:pPr>
            <a:r>
              <a:t>•    • Стабільність ознак протягом кар'єри гравця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Аналіз по ролях</a:t>
            </a:r>
          </a:p>
          <a:p>
            <a:pPr>
              <a:spcAft>
                <a:spcPts val="1200"/>
              </a:spcAft>
              <a:defRPr sz="1800"/>
            </a:pPr>
            <a:r>
              <a:t>•    • Інваріантність для AWPers vs Riflers vs IGLs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Багаторівневе моделювання</a:t>
            </a:r>
          </a:p>
          <a:p>
            <a:pPr>
              <a:spcAft>
                <a:spcPts val="1200"/>
              </a:spcAft>
              <a:defRPr sz="1800"/>
            </a:pPr>
            <a:r>
              <a:t>•    • Гравець → Команда → Турнір</a:t>
            </a:r>
          </a:p>
          <a:p>
            <a:pPr>
              <a:spcAft>
                <a:spcPts val="1200"/>
              </a:spcAft>
              <a:defRPr sz="1800"/>
            </a:pPr>
            <a:r>
              <a:t>• </a:t>
            </a:r>
          </a:p>
          <a:p>
            <a:pPr>
              <a:spcAft>
                <a:spcPts val="1200"/>
              </a:spcAft>
              <a:defRPr sz="1800"/>
            </a:pPr>
            <a:r>
              <a:t>• Предиктивна валідація</a:t>
            </a:r>
          </a:p>
          <a:p>
            <a:pPr>
              <a:spcAft>
                <a:spcPts val="1200"/>
              </a:spcAft>
              <a:defRPr sz="1800"/>
            </a:pPr>
            <a:r>
              <a:t>•    • Чи інваріантні ознаки прогнозують майбутній перформанс?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Висновки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70C0"/>
                </a:solidFill>
              </a:rPr>
              <a:t>1. </a:t>
            </a:r>
            <a:r>
              <a:rPr sz="1800"/>
              <a:t>75% ознак інваріантні до карт — карта менше впливає на скіл</a:t>
            </a:r>
          </a:p>
          <a:p>
            <a:pPr>
              <a:spcBef>
                <a:spcPts val="1600"/>
              </a:spcBef>
            </a:pPr>
            <a:r>
              <a:rPr sz="2000" b="1">
                <a:solidFill>
                  <a:srgbClr val="0070C0"/>
                </a:solidFill>
              </a:rPr>
              <a:t>2. </a:t>
            </a:r>
            <a:r>
              <a:rPr sz="1800"/>
              <a:t>92% ознак інваріантні до версії — базові навички переносяться</a:t>
            </a:r>
          </a:p>
          <a:p>
            <a:pPr>
              <a:spcBef>
                <a:spcPts val="1600"/>
              </a:spcBef>
            </a:pPr>
            <a:r>
              <a:rPr sz="2000" b="1">
                <a:solidFill>
                  <a:srgbClr val="0070C0"/>
                </a:solidFill>
              </a:rPr>
              <a:t>3. </a:t>
            </a:r>
            <a:r>
              <a:rPr sz="1800"/>
              <a:t>48% ознак інваріантні до сторони — T/CT має найбільший вплив</a:t>
            </a:r>
          </a:p>
          <a:p>
            <a:pPr>
              <a:spcBef>
                <a:spcPts val="1600"/>
              </a:spcBef>
            </a:pPr>
            <a:r>
              <a:rPr sz="2000" b="1">
                <a:solidFill>
                  <a:srgbClr val="0070C0"/>
                </a:solidFill>
              </a:rPr>
              <a:t>4. </a:t>
            </a:r>
            <a:r>
              <a:rPr sz="1800"/>
              <a:t>11 універсальних ознак відображають контекстно-незалежний скіл</a:t>
            </a:r>
          </a:p>
          <a:p>
            <a:pPr>
              <a:spcBef>
                <a:spcPts val="1600"/>
              </a:spcBef>
            </a:pPr>
            <a:r>
              <a:rPr sz="2000" b="1">
                <a:solidFill>
                  <a:srgbClr val="0070C0"/>
                </a:solidFill>
              </a:rPr>
              <a:t>5. </a:t>
            </a:r>
            <a:r>
              <a:rPr sz="1800"/>
              <a:t>Utility-метрики найваріантніші — залежать від тактики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9144000" cy="2286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Дякую за увагу!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Питання?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